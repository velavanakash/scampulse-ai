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5F7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84048" y="6574536"/>
            <a:ext cx="84124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D9E2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ScamPulse AI • Sprint 1 • Project-provided data &amp; notebook only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11247120" y="6565392"/>
            <a:ext cx="548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2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046720" y="457200"/>
            <a:ext cx="3108960" cy="4754880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20C4C8">
                <a:alpha val="65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284464" y="621792"/>
            <a:ext cx="2944368" cy="4462272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20C4C8">
                <a:alpha val="6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22208" y="786384"/>
            <a:ext cx="2779776" cy="4169664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20C4C8">
                <a:alpha val="6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759952" y="950976"/>
            <a:ext cx="2615184" cy="3877056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7BE0DF">
                <a:alpha val="6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97696" y="1115568"/>
            <a:ext cx="2450592" cy="3584448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7BE0DF">
                <a:alpha val="6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9235440" y="1280160"/>
            <a:ext cx="2286000" cy="3291840"/>
          </a:xfrm>
          <a:prstGeom prst="arc">
            <a:avLst/>
          </a:prstGeom>
          <a:solidFill>
            <a:srgbClr val="0B132B">
              <a:alpha val="0"/>
            </a:srgbClr>
          </a:solidFill>
          <a:ln w="15240">
            <a:solidFill>
              <a:srgbClr val="7BE0DF">
                <a:alpha val="6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658368"/>
            <a:ext cx="2971800" cy="310896"/>
          </a:xfrm>
          <a:prstGeom prst="roundRect">
            <a:avLst>
              <a:gd name="adj" fmla="val 50000"/>
            </a:avLst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67512" y="690372"/>
            <a:ext cx="28254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PYTHON DATA ANALYSIS PROJECT • SPRINT 1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1298448"/>
            <a:ext cx="68580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ScamPulse AI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94360" y="2057400"/>
            <a:ext cx="78638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CFE8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Scam &amp; Spam Pattern Intelligence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94360" y="2633472"/>
            <a:ext cx="7909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dirty="0">
                <a:solidFill>
                  <a:srgbClr val="AFC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Industry: Telecommunications • call-protection &amp; spam/scam monitoring context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94360" y="3218688"/>
            <a:ext cx="7132320" cy="0"/>
          </a:xfrm>
          <a:prstGeom prst="line">
            <a:avLst/>
          </a:prstGeom>
          <a:noFill/>
          <a:ln w="17780">
            <a:solidFill>
              <a:srgbClr val="20C4C8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594360" y="34747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VELAVAN P 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594360" y="388620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Student ID  •  AF05320062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94360" y="418795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 •  AIML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94360" y="4489704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dirty="0">
                <a:solidFill>
                  <a:srgbClr val="C7D3E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Batch Code  •  ANP - D7444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94360" y="513892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reference: Truecaller (inspiration only; not an official project)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94360" y="55504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source: FTC Do Not Call consumer complaint records used in the project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1064240" y="5989320"/>
            <a:ext cx="411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Overview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industry: Telecommunications • focus on complaint intelligence for call-protection analysis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3657600" cy="4526280"/>
          </a:xfrm>
          <a:prstGeom prst="roundRect">
            <a:avLst>
              <a:gd name="adj" fmla="val 300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517904"/>
            <a:ext cx="25603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INDUSTRY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68096" y="1847088"/>
            <a:ext cx="2880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Telecommunications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768096" y="2487168"/>
            <a:ext cx="29718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dirty="0">
                <a:solidFill>
                  <a:srgbClr val="D5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ScamPulse AI examines consumer-reported unwanted-call complaints as an analytical signal for telecom call-protection and spam/scam monitoring.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768096" y="4069080"/>
            <a:ext cx="1234440" cy="310896"/>
          </a:xfrm>
          <a:prstGeom prst="roundRect">
            <a:avLst>
              <a:gd name="adj" fmla="val 50000"/>
            </a:avLst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41248" y="4101084"/>
            <a:ext cx="108813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context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768096" y="453542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 • Subject • Robocall • Geography • Originating number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5257800"/>
            <a:ext cx="29718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50" dirty="0">
                <a:solidFill>
                  <a:srgbClr val="AFC3D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signals are analyzed together rather than interpreted as isolated fields.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526280" y="128016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data analysis matters in this project</a:t>
            </a:r>
            <a:endParaRPr lang="en-US" sz="1900" dirty="0"/>
          </a:p>
        </p:txBody>
      </p:sp>
      <p:sp>
        <p:nvSpPr>
          <p:cNvPr id="14" name="Shape 12"/>
          <p:cNvSpPr/>
          <p:nvPr/>
        </p:nvSpPr>
        <p:spPr>
          <a:xfrm>
            <a:off x="4526280" y="1874520"/>
            <a:ext cx="221284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90872" y="2039112"/>
            <a:ext cx="384048" cy="384048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90872" y="20894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4690872" y="2569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PATTERN DISCOVERY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90872" y="293522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Turn high-volume complaint rows into recurring patterns that are easier to monitor.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6976872" y="1874520"/>
            <a:ext cx="221284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41464" y="2039112"/>
            <a:ext cx="384048" cy="384048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141464" y="20894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7141464" y="2569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MONITORING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7141464" y="293522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Compare dates, subjects, geography and robocall status to spot shifts in complaint activity.</a:t>
            </a:r>
            <a:endParaRPr lang="en-US" sz="1080" dirty="0"/>
          </a:p>
        </p:txBody>
      </p:sp>
      <p:sp>
        <p:nvSpPr>
          <p:cNvPr id="24" name="Shape 22"/>
          <p:cNvSpPr/>
          <p:nvPr/>
        </p:nvSpPr>
        <p:spPr>
          <a:xfrm>
            <a:off x="9427464" y="1874520"/>
            <a:ext cx="2212848" cy="1883664"/>
          </a:xfrm>
          <a:prstGeom prst="roundRect">
            <a:avLst>
              <a:gd name="adj" fmla="val 582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592056" y="2039112"/>
            <a:ext cx="384048" cy="384048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592056" y="2089404"/>
            <a:ext cx="38404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592056" y="256946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PRIORITIZATION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9592056" y="2935224"/>
            <a:ext cx="1828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recurrence and emerging-pattern signals to focus deeper review on the most relevant records.</a:t>
            </a:r>
            <a:endParaRPr lang="en-US" sz="1080" dirty="0"/>
          </a:p>
        </p:txBody>
      </p:sp>
      <p:sp>
        <p:nvSpPr>
          <p:cNvPr id="29" name="Shape 27"/>
          <p:cNvSpPr/>
          <p:nvPr/>
        </p:nvSpPr>
        <p:spPr>
          <a:xfrm>
            <a:off x="4526280" y="4160520"/>
            <a:ext cx="7315200" cy="1600200"/>
          </a:xfrm>
          <a:prstGeom prst="roundRect">
            <a:avLst>
              <a:gd name="adj" fmla="val 6857"/>
            </a:avLst>
          </a:prstGeom>
          <a:solidFill>
            <a:srgbClr val="E7F8F8"/>
          </a:solidFill>
          <a:ln w="12700">
            <a:solidFill>
              <a:srgbClr val="B5E7E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736592" y="4370832"/>
            <a:ext cx="1417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VIEW</a:t>
            </a:r>
            <a:endParaRPr lang="en-US" sz="870" dirty="0"/>
          </a:p>
        </p:txBody>
      </p:sp>
      <p:sp>
        <p:nvSpPr>
          <p:cNvPr id="31" name="Text 29"/>
          <p:cNvSpPr/>
          <p:nvPr/>
        </p:nvSpPr>
        <p:spPr>
          <a:xfrm>
            <a:off x="4736592" y="4690872"/>
            <a:ext cx="68122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analysis layer converts complaint records into structured intelligence that can support monitoring, prioritization and future detection work.</a:t>
            </a:r>
            <a:endParaRPr lang="en-US" sz="1500" dirty="0"/>
          </a:p>
        </p:txBody>
      </p:sp>
      <p:sp>
        <p:nvSpPr>
          <p:cNvPr id="32" name="Text 30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project-provided notebook and dataset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Problem Statement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ScamPulse AI is needed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11201400" cy="1307592"/>
          </a:xfrm>
          <a:prstGeom prst="roundRect">
            <a:avLst>
              <a:gd name="adj" fmla="val 8392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47218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INDUSTRY PROBLEM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" y="1755648"/>
            <a:ext cx="10378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Large-scale consumer complaint records contain important patterns that are difficult to identify manually.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502920" y="2852928"/>
            <a:ext cx="3429000" cy="1947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85800" y="307238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58952" y="31043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IT MATTERS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685800" y="358444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complaint records need structure before they can support consistent monitoring and analytical decisions.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4233672" y="2852928"/>
            <a:ext cx="3429000" cy="1947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416552" y="307238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489704" y="31043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IS AFFECTED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4416552" y="358444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Telecom users experience unwanted calls; analysts and call-protection workflows need usable pattern intelligence.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7964424" y="2852928"/>
            <a:ext cx="3429000" cy="1947672"/>
          </a:xfrm>
          <a:prstGeom prst="roundRect">
            <a:avLst>
              <a:gd name="adj" fmla="val 5634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47304" y="3072384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20456" y="3104388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MISSING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147304" y="3584448"/>
            <a:ext cx="3017520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3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repeatable analysis layer that connects temporal, subject, robocall, geographic and originating-number signals.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02920" y="5138928"/>
            <a:ext cx="11201400" cy="713232"/>
          </a:xfrm>
          <a:prstGeom prst="roundRect">
            <a:avLst>
              <a:gd name="adj" fmla="val 15385"/>
            </a:avLst>
          </a:prstGeom>
          <a:solidFill>
            <a:srgbClr val="FFF3E0"/>
          </a:solidFill>
          <a:ln w="12700">
            <a:solidFill>
              <a:srgbClr val="F1D4A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49808" y="530352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B6A19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QUESTION</a:t>
            </a:r>
            <a:endParaRPr lang="en-US" sz="870" dirty="0"/>
          </a:p>
        </p:txBody>
      </p:sp>
      <p:sp>
        <p:nvSpPr>
          <p:cNvPr id="22" name="Text 20"/>
          <p:cNvSpPr/>
          <p:nvPr/>
        </p:nvSpPr>
        <p:spPr>
          <a:xfrm>
            <a:off x="2057400" y="5239512"/>
            <a:ext cx="91440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can a telecom call-protection platform convert complaint data into actionable pattern intelligence?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502920" y="6035040"/>
            <a:ext cx="9784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C5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rule: complaint frequency is a monitoring signal, not confirmation of fraud.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 problem statement and supplied notebook analysis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Objective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Five clear objectives for Sprint 1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98448"/>
            <a:ext cx="10972800" cy="713232"/>
          </a:xfrm>
          <a:prstGeom prst="roundRect">
            <a:avLst>
              <a:gd name="adj" fmla="val 15385"/>
            </a:avLst>
          </a:prstGeom>
          <a:solidFill>
            <a:srgbClr val="E7F8F8"/>
          </a:solidFill>
          <a:ln w="12700">
            <a:solidFill>
              <a:srgbClr val="C5EB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95528" y="1444752"/>
            <a:ext cx="393192" cy="393192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95528" y="1522476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62456" y="1453896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Transform consumer-reported complaint records into structured analytical intelligence.</a:t>
            </a:r>
            <a:endParaRPr lang="en-US" sz="1520" dirty="0"/>
          </a:p>
        </p:txBody>
      </p:sp>
      <p:sp>
        <p:nvSpPr>
          <p:cNvPr id="9" name="Shape 7"/>
          <p:cNvSpPr/>
          <p:nvPr/>
        </p:nvSpPr>
        <p:spPr>
          <a:xfrm>
            <a:off x="594360" y="2194560"/>
            <a:ext cx="10972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95528" y="2340864"/>
            <a:ext cx="393192" cy="393192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95528" y="2418588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362456" y="2350008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recurring and emerging patterns across time, subject, robocall status, geography and originating number.</a:t>
            </a:r>
            <a:endParaRPr lang="en-US" sz="1520" dirty="0"/>
          </a:p>
        </p:txBody>
      </p:sp>
      <p:sp>
        <p:nvSpPr>
          <p:cNvPr id="13" name="Shape 11"/>
          <p:cNvSpPr/>
          <p:nvPr/>
        </p:nvSpPr>
        <p:spPr>
          <a:xfrm>
            <a:off x="594360" y="3090672"/>
            <a:ext cx="10972800" cy="713232"/>
          </a:xfrm>
          <a:prstGeom prst="roundRect">
            <a:avLst>
              <a:gd name="adj" fmla="val 15385"/>
            </a:avLst>
          </a:prstGeom>
          <a:solidFill>
            <a:srgbClr val="E7F8F8"/>
          </a:solidFill>
          <a:ln w="12700">
            <a:solidFill>
              <a:srgbClr val="C5EB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95528" y="3236976"/>
            <a:ext cx="393192" cy="393192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5528" y="3314700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362456" y="3246120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 complaint concentration and recurrence to support monitoring priorities.</a:t>
            </a:r>
            <a:endParaRPr lang="en-US" sz="1520" dirty="0"/>
          </a:p>
        </p:txBody>
      </p:sp>
      <p:sp>
        <p:nvSpPr>
          <p:cNvPr id="17" name="Shape 15"/>
          <p:cNvSpPr/>
          <p:nvPr/>
        </p:nvSpPr>
        <p:spPr>
          <a:xfrm>
            <a:off x="594360" y="3986784"/>
            <a:ext cx="10972800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95528" y="4133088"/>
            <a:ext cx="393192" cy="393192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95528" y="4210812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62456" y="4142232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interactive Plotly dashboard for fast exploration and decision support.</a:t>
            </a:r>
            <a:endParaRPr lang="en-US" sz="1520" dirty="0"/>
          </a:p>
        </p:txBody>
      </p:sp>
      <p:sp>
        <p:nvSpPr>
          <p:cNvPr id="21" name="Shape 19"/>
          <p:cNvSpPr/>
          <p:nvPr/>
        </p:nvSpPr>
        <p:spPr>
          <a:xfrm>
            <a:off x="594360" y="4882896"/>
            <a:ext cx="10972800" cy="713232"/>
          </a:xfrm>
          <a:prstGeom prst="roundRect">
            <a:avLst>
              <a:gd name="adj" fmla="val 15385"/>
            </a:avLst>
          </a:prstGeom>
          <a:solidFill>
            <a:srgbClr val="E7F8F8"/>
          </a:solidFill>
          <a:ln w="12700">
            <a:solidFill>
              <a:srgbClr val="C5EBEA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95528" y="5029200"/>
            <a:ext cx="393192" cy="393192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95528" y="5106924"/>
            <a:ext cx="393192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362456" y="5038344"/>
            <a:ext cx="982980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52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clean analytical foundation for future anomaly detection, risk scoring and machine-learning work.</a:t>
            </a:r>
            <a:endParaRPr lang="en-US" sz="1520" dirty="0"/>
          </a:p>
        </p:txBody>
      </p:sp>
      <p:sp>
        <p:nvSpPr>
          <p:cNvPr id="25" name="Shape 23"/>
          <p:cNvSpPr/>
          <p:nvPr/>
        </p:nvSpPr>
        <p:spPr>
          <a:xfrm>
            <a:off x="777240" y="5833872"/>
            <a:ext cx="1645920" cy="384048"/>
          </a:xfrm>
          <a:prstGeom prst="roundRect">
            <a:avLst>
              <a:gd name="adj" fmla="val 2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850392" y="59344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32888" y="5870448"/>
            <a:ext cx="256032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3063240" y="5833872"/>
            <a:ext cx="1645920" cy="384048"/>
          </a:xfrm>
          <a:prstGeom prst="roundRect">
            <a:avLst>
              <a:gd name="adj" fmla="val 2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136392" y="59344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18888" y="5870448"/>
            <a:ext cx="256032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49240" y="5833872"/>
            <a:ext cx="1645920" cy="384048"/>
          </a:xfrm>
          <a:prstGeom prst="roundRect">
            <a:avLst>
              <a:gd name="adj" fmla="val 2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22392" y="59344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104888" y="5870448"/>
            <a:ext cx="256032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635240" y="5833872"/>
            <a:ext cx="1645920" cy="384048"/>
          </a:xfrm>
          <a:prstGeom prst="roundRect">
            <a:avLst>
              <a:gd name="adj" fmla="val 28571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708392" y="59344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9390888" y="5870448"/>
            <a:ext cx="256032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9921240" y="5833872"/>
            <a:ext cx="1645920" cy="384048"/>
          </a:xfrm>
          <a:prstGeom prst="roundRect">
            <a:avLst>
              <a:gd name="adj" fmla="val 28571"/>
            </a:avLst>
          </a:prstGeom>
          <a:solidFill>
            <a:srgbClr val="FFF3E0"/>
          </a:solidFill>
          <a:ln w="12700">
            <a:solidFill>
              <a:srgbClr val="F1D4A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994392" y="5934456"/>
            <a:ext cx="1499616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ML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project-provided notebook and dataset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 &amp; Analysis Questions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Python to turn raw complaint records into a structured analytical workflow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94360" y="117043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SOLUTION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594360" y="1499616"/>
            <a:ext cx="193852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04088" y="170078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FTC CSVs</a:t>
            </a:r>
            <a:endParaRPr lang="en-US" sz="1130" dirty="0"/>
          </a:p>
        </p:txBody>
      </p:sp>
      <p:sp>
        <p:nvSpPr>
          <p:cNvPr id="8" name="Shape 6"/>
          <p:cNvSpPr/>
          <p:nvPr/>
        </p:nvSpPr>
        <p:spPr>
          <a:xfrm>
            <a:off x="2587752" y="1673352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898648" y="1499616"/>
            <a:ext cx="193852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08376" y="170078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Quality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4892040" y="1673352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202936" y="1499616"/>
            <a:ext cx="193852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12664" y="170078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Cleaning</a:t>
            </a:r>
            <a:endParaRPr lang="en-US" sz="1130" dirty="0"/>
          </a:p>
        </p:txBody>
      </p:sp>
      <p:sp>
        <p:nvSpPr>
          <p:cNvPr id="14" name="Shape 12"/>
          <p:cNvSpPr/>
          <p:nvPr/>
        </p:nvSpPr>
        <p:spPr>
          <a:xfrm>
            <a:off x="7196328" y="1673352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507224" y="1499616"/>
            <a:ext cx="193852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16952" y="170078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9500616" y="1673352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811512" y="1499616"/>
            <a:ext cx="1938528" cy="658368"/>
          </a:xfrm>
          <a:prstGeom prst="roundRect">
            <a:avLst>
              <a:gd name="adj" fmla="val 16667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921240" y="1700784"/>
            <a:ext cx="17190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3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Plotly Dashboard</a:t>
            </a:r>
            <a:endParaRPr lang="en-US" sz="1130" dirty="0"/>
          </a:p>
        </p:txBody>
      </p:sp>
      <p:sp>
        <p:nvSpPr>
          <p:cNvPr id="20" name="Text 18"/>
          <p:cNvSpPr/>
          <p:nvPr/>
        </p:nvSpPr>
        <p:spPr>
          <a:xfrm>
            <a:off x="594360" y="239572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Python helps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85800" y="2761488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618488" y="2761488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clean, group, count, cross-tab and compare</a:t>
            </a:r>
            <a:endParaRPr lang="en-US" sz="1060" dirty="0"/>
          </a:p>
        </p:txBody>
      </p:sp>
      <p:sp>
        <p:nvSpPr>
          <p:cNvPr id="23" name="Text 21"/>
          <p:cNvSpPr/>
          <p:nvPr/>
        </p:nvSpPr>
        <p:spPr>
          <a:xfrm>
            <a:off x="685800" y="3182112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NumPy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1618488" y="3182112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numerical transformations and analysis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685800" y="3602736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1618488" y="3602736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EDA patterns with static charts</a:t>
            </a:r>
            <a:endParaRPr lang="en-US" sz="1060" dirty="0"/>
          </a:p>
        </p:txBody>
      </p:sp>
      <p:sp>
        <p:nvSpPr>
          <p:cNvPr id="27" name="Text 25"/>
          <p:cNvSpPr/>
          <p:nvPr/>
        </p:nvSpPr>
        <p:spPr>
          <a:xfrm>
            <a:off x="685800" y="4023360"/>
            <a:ext cx="914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Plotly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1618488" y="4023360"/>
            <a:ext cx="3840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present an interactive dashboard with hover/zoom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5532120" y="2542032"/>
            <a:ext cx="6172200" cy="3163824"/>
          </a:xfrm>
          <a:prstGeom prst="roundRect">
            <a:avLst>
              <a:gd name="adj" fmla="val 346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779008" y="276148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ANALYSIS QUESTIONS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5779008" y="321868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61888" y="318211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does complaint volume vary by Created_Date?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5779008" y="395020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961888" y="391363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complaint subjects dominate the dataset?</a:t>
            </a:r>
            <a:endParaRPr lang="en-US" sz="1060" dirty="0"/>
          </a:p>
        </p:txBody>
      </p:sp>
      <p:sp>
        <p:nvSpPr>
          <p:cNvPr id="35" name="Shape 33"/>
          <p:cNvSpPr/>
          <p:nvPr/>
        </p:nvSpPr>
        <p:spPr>
          <a:xfrm>
            <a:off x="5779008" y="468172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961888" y="464515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much activity is marked as a robocall / recorded message?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8641080" y="321868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823960" y="318211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states, cities and area codes have the highest complaint volume?</a:t>
            </a:r>
            <a:endParaRPr lang="en-US" sz="1060" dirty="0"/>
          </a:p>
        </p:txBody>
      </p:sp>
      <p:sp>
        <p:nvSpPr>
          <p:cNvPr id="39" name="Shape 37"/>
          <p:cNvSpPr/>
          <p:nvPr/>
        </p:nvSpPr>
        <p:spPr>
          <a:xfrm>
            <a:off x="8641080" y="395020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8823960" y="391363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originating numbers recur most often?</a:t>
            </a:r>
            <a:endParaRPr lang="en-US" sz="1060" dirty="0"/>
          </a:p>
        </p:txBody>
      </p:sp>
      <p:sp>
        <p:nvSpPr>
          <p:cNvPr id="41" name="Shape 39"/>
          <p:cNvSpPr/>
          <p:nvPr/>
        </p:nvSpPr>
        <p:spPr>
          <a:xfrm>
            <a:off x="8641080" y="4681728"/>
            <a:ext cx="109728" cy="1097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823960" y="4645152"/>
            <a:ext cx="2487168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Which subjects, states and phone numbers are emerging in the recent period?</a:t>
            </a:r>
            <a:endParaRPr lang="en-US" sz="1060" dirty="0"/>
          </a:p>
        </p:txBody>
      </p:sp>
      <p:sp>
        <p:nvSpPr>
          <p:cNvPr id="43" name="Text 41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project-provided notebook and dataset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Information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FTC Do Not Call complaint records used for the project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25296"/>
            <a:ext cx="3794760" cy="4526280"/>
          </a:xfrm>
          <a:prstGeom prst="roundRect">
            <a:avLst>
              <a:gd name="adj" fmla="val 2892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8096" y="1481328"/>
            <a:ext cx="1508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NAME</a:t>
            </a:r>
            <a:endParaRPr lang="en-US" sz="870" dirty="0"/>
          </a:p>
        </p:txBody>
      </p:sp>
      <p:sp>
        <p:nvSpPr>
          <p:cNvPr id="7" name="Text 5"/>
          <p:cNvSpPr/>
          <p:nvPr/>
        </p:nvSpPr>
        <p:spPr>
          <a:xfrm>
            <a:off x="768096" y="1773936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FTC Do Not Call complaint records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768096" y="2532888"/>
            <a:ext cx="731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</a:t>
            </a:r>
            <a:endParaRPr lang="en-US" sz="870" dirty="0"/>
          </a:p>
        </p:txBody>
      </p:sp>
      <p:sp>
        <p:nvSpPr>
          <p:cNvPr id="9" name="Text 7"/>
          <p:cNvSpPr/>
          <p:nvPr/>
        </p:nvSpPr>
        <p:spPr>
          <a:xfrm>
            <a:off x="1417320" y="2487168"/>
            <a:ext cx="2331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60" dirty="0">
                <a:solidFill>
                  <a:srgbClr val="D5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daily FTC complaint CSV files loaded by the project notebook</a:t>
            </a:r>
            <a:endParaRPr lang="en-US" sz="1160" dirty="0"/>
          </a:p>
        </p:txBody>
      </p:sp>
      <p:sp>
        <p:nvSpPr>
          <p:cNvPr id="10" name="Text 8"/>
          <p:cNvSpPr/>
          <p:nvPr/>
        </p:nvSpPr>
        <p:spPr>
          <a:xfrm>
            <a:off x="768096" y="324612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Coverage</a:t>
            </a:r>
            <a:endParaRPr lang="en-US" sz="870" dirty="0"/>
          </a:p>
        </p:txBody>
      </p:sp>
      <p:sp>
        <p:nvSpPr>
          <p:cNvPr id="11" name="Text 9"/>
          <p:cNvSpPr/>
          <p:nvPr/>
        </p:nvSpPr>
        <p:spPr>
          <a:xfrm>
            <a:off x="1417320" y="32095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 Aug 2026 → 09 Sep 2026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68096" y="3703320"/>
            <a:ext cx="76809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Format</a:t>
            </a:r>
            <a:endParaRPr lang="en-US" sz="870" dirty="0"/>
          </a:p>
        </p:txBody>
      </p:sp>
      <p:sp>
        <p:nvSpPr>
          <p:cNvPr id="13" name="Text 11"/>
          <p:cNvSpPr/>
          <p:nvPr/>
        </p:nvSpPr>
        <p:spPr>
          <a:xfrm>
            <a:off x="1417320" y="3666744"/>
            <a:ext cx="23317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CSV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768096" y="4114800"/>
            <a:ext cx="8686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Selected files</a:t>
            </a:r>
            <a:endParaRPr lang="en-US" sz="870" dirty="0"/>
          </a:p>
        </p:txBody>
      </p:sp>
      <p:sp>
        <p:nvSpPr>
          <p:cNvPr id="15" name="Text 13"/>
          <p:cNvSpPr/>
          <p:nvPr/>
        </p:nvSpPr>
        <p:spPr>
          <a:xfrm>
            <a:off x="1417320" y="4078224"/>
            <a:ext cx="23317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5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daily CSV files: sep1, sep2, sep3, sep4, sep7, sep8, sep9, sep10</a:t>
            </a:r>
            <a:endParaRPr lang="en-US" sz="1080" dirty="0"/>
          </a:p>
        </p:txBody>
      </p:sp>
      <p:sp>
        <p:nvSpPr>
          <p:cNvPr id="16" name="Text 14"/>
          <p:cNvSpPr/>
          <p:nvPr/>
        </p:nvSpPr>
        <p:spPr>
          <a:xfrm>
            <a:off x="768096" y="4956048"/>
            <a:ext cx="11887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features</a:t>
            </a:r>
            <a:endParaRPr lang="en-US" sz="870" dirty="0"/>
          </a:p>
        </p:txBody>
      </p:sp>
      <p:sp>
        <p:nvSpPr>
          <p:cNvPr id="17" name="Text 15"/>
          <p:cNvSpPr/>
          <p:nvPr/>
        </p:nvSpPr>
        <p:spPr>
          <a:xfrm>
            <a:off x="768096" y="5257800"/>
            <a:ext cx="30632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D5DF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Company_Phone_Number • Created_Date • Violation_Date • Consumer_City • Consumer_State • Consumer_Area_Code • Subject • Recorded_Message_Or_Robocall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553712" y="1335024"/>
            <a:ext cx="21488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553712" y="1335024"/>
            <a:ext cx="73152" cy="941832"/>
          </a:xfrm>
          <a:prstGeom prst="rect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18304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DATASET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4718304" y="164592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84,686 × 8</a:t>
            </a:r>
            <a:endParaRPr lang="en-US" sz="2100" dirty="0"/>
          </a:p>
        </p:txBody>
      </p:sp>
      <p:sp>
        <p:nvSpPr>
          <p:cNvPr id="22" name="Shape 20"/>
          <p:cNvSpPr/>
          <p:nvPr/>
        </p:nvSpPr>
        <p:spPr>
          <a:xfrm>
            <a:off x="6876288" y="1335024"/>
            <a:ext cx="21488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876288" y="1335024"/>
            <a:ext cx="73152" cy="94183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40880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PROCESSED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7040880" y="164592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84,678 × 10</a:t>
            </a:r>
            <a:endParaRPr lang="en-US" sz="2100" dirty="0"/>
          </a:p>
        </p:txBody>
      </p:sp>
      <p:sp>
        <p:nvSpPr>
          <p:cNvPr id="26" name="Shape 24"/>
          <p:cNvSpPr/>
          <p:nvPr/>
        </p:nvSpPr>
        <p:spPr>
          <a:xfrm>
            <a:off x="9198864" y="1335024"/>
            <a:ext cx="2148840" cy="941832"/>
          </a:xfrm>
          <a:prstGeom prst="roundRect">
            <a:avLst>
              <a:gd name="adj" fmla="val 1165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9198864" y="1335024"/>
            <a:ext cx="73152" cy="94183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363456" y="144475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UNIQUE SUBJECTS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9363456" y="1645920"/>
            <a:ext cx="1828800" cy="5577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2100" dirty="0"/>
          </a:p>
        </p:txBody>
      </p:sp>
      <p:sp>
        <p:nvSpPr>
          <p:cNvPr id="30" name="Shape 28"/>
          <p:cNvSpPr/>
          <p:nvPr/>
        </p:nvSpPr>
        <p:spPr>
          <a:xfrm>
            <a:off x="4553712" y="2578608"/>
            <a:ext cx="6793992" cy="3136392"/>
          </a:xfrm>
          <a:prstGeom prst="roundRect">
            <a:avLst>
              <a:gd name="adj" fmla="val 349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00600" y="2816352"/>
            <a:ext cx="2103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 at a glance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4800600" y="327355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65192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Company_Phone_Number</a:t>
            </a:r>
            <a:endParaRPr lang="en-US" sz="1040" dirty="0"/>
          </a:p>
        </p:txBody>
      </p:sp>
      <p:sp>
        <p:nvSpPr>
          <p:cNvPr id="34" name="Text 32"/>
          <p:cNvSpPr/>
          <p:nvPr/>
        </p:nvSpPr>
        <p:spPr>
          <a:xfrm>
            <a:off x="4800600" y="376732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4965192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Created_Date</a:t>
            </a:r>
            <a:endParaRPr lang="en-US" sz="1040" dirty="0"/>
          </a:p>
        </p:txBody>
      </p:sp>
      <p:sp>
        <p:nvSpPr>
          <p:cNvPr id="36" name="Text 34"/>
          <p:cNvSpPr/>
          <p:nvPr/>
        </p:nvSpPr>
        <p:spPr>
          <a:xfrm>
            <a:off x="4800600" y="4261104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4965192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Violation_Date</a:t>
            </a:r>
            <a:endParaRPr lang="en-US" sz="1040" dirty="0"/>
          </a:p>
        </p:txBody>
      </p:sp>
      <p:sp>
        <p:nvSpPr>
          <p:cNvPr id="38" name="Text 36"/>
          <p:cNvSpPr/>
          <p:nvPr/>
        </p:nvSpPr>
        <p:spPr>
          <a:xfrm>
            <a:off x="4800600" y="4754880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4965192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Consumer_City</a:t>
            </a:r>
            <a:endParaRPr lang="en-US" sz="1040" dirty="0"/>
          </a:p>
        </p:txBody>
      </p:sp>
      <p:sp>
        <p:nvSpPr>
          <p:cNvPr id="40" name="Text 38"/>
          <p:cNvSpPr/>
          <p:nvPr/>
        </p:nvSpPr>
        <p:spPr>
          <a:xfrm>
            <a:off x="7973568" y="3273552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1" name="Text 39"/>
          <p:cNvSpPr/>
          <p:nvPr/>
        </p:nvSpPr>
        <p:spPr>
          <a:xfrm>
            <a:off x="8138160" y="327355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Consumer_State</a:t>
            </a:r>
            <a:endParaRPr lang="en-US" sz="1040" dirty="0"/>
          </a:p>
        </p:txBody>
      </p:sp>
      <p:sp>
        <p:nvSpPr>
          <p:cNvPr id="42" name="Text 40"/>
          <p:cNvSpPr/>
          <p:nvPr/>
        </p:nvSpPr>
        <p:spPr>
          <a:xfrm>
            <a:off x="7973568" y="3767328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138160" y="3767328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Consumer_Area_Code</a:t>
            </a:r>
            <a:endParaRPr lang="en-US" sz="1040" dirty="0"/>
          </a:p>
        </p:txBody>
      </p:sp>
      <p:sp>
        <p:nvSpPr>
          <p:cNvPr id="44" name="Text 42"/>
          <p:cNvSpPr/>
          <p:nvPr/>
        </p:nvSpPr>
        <p:spPr>
          <a:xfrm>
            <a:off x="7973568" y="4261104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5" name="Text 43"/>
          <p:cNvSpPr/>
          <p:nvPr/>
        </p:nvSpPr>
        <p:spPr>
          <a:xfrm>
            <a:off x="8138160" y="4261104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</a:t>
            </a:r>
            <a:endParaRPr lang="en-US" sz="1040" dirty="0"/>
          </a:p>
        </p:txBody>
      </p:sp>
      <p:sp>
        <p:nvSpPr>
          <p:cNvPr id="46" name="Text 44"/>
          <p:cNvSpPr/>
          <p:nvPr/>
        </p:nvSpPr>
        <p:spPr>
          <a:xfrm>
            <a:off x="7973568" y="4754880"/>
            <a:ext cx="137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8138160" y="4754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40" b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Recorded_Message_Or_Robocall</a:t>
            </a:r>
            <a:endParaRPr lang="en-US" sz="1040" dirty="0"/>
          </a:p>
        </p:txBody>
      </p:sp>
      <p:sp>
        <p:nvSpPr>
          <p:cNvPr id="48" name="Text 46"/>
          <p:cNvSpPr/>
          <p:nvPr/>
        </p:nvSpPr>
        <p:spPr>
          <a:xfrm>
            <a:off x="4800600" y="5349240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 description</a:t>
            </a:r>
            <a:endParaRPr lang="en-US" sz="870" dirty="0"/>
          </a:p>
        </p:txBody>
      </p:sp>
      <p:sp>
        <p:nvSpPr>
          <p:cNvPr id="49" name="Text 47"/>
          <p:cNvSpPr/>
          <p:nvPr/>
        </p:nvSpPr>
        <p:spPr>
          <a:xfrm>
            <a:off x="6016752" y="5276088"/>
            <a:ext cx="5074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records capture report timing, reported number, consumer geography, subject and robocall status.</a:t>
            </a:r>
            <a:endParaRPr lang="en-US" sz="1150" dirty="0"/>
          </a:p>
        </p:txBody>
      </p:sp>
      <p:sp>
        <p:nvSpPr>
          <p:cNvPr id="50" name="Text 48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FTC Do Not Call complaint CSVs selected and combined in the project notebook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Collection &amp; Understanding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evidence from the supplied, executed Jupyter files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1152144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7572"/>
            <a:ext cx="10058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raw CSV files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828800" y="1106424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57984" y="1115568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31136" y="1147572"/>
            <a:ext cx="10424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Vertical concat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474720" y="1106424"/>
            <a:ext cx="274320" cy="310896"/>
          </a:xfrm>
          <a:prstGeom prst="chevron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803904" y="1115568"/>
            <a:ext cx="1353312" cy="310896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77056" y="1147572"/>
            <a:ext cx="1207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84,686 rows × 8</a:t>
            </a:r>
            <a:endParaRPr lang="en-US" sz="950" dirty="0"/>
          </a:p>
        </p:txBody>
      </p:sp>
      <p:pic>
        <p:nvPicPr>
          <p:cNvPr id="13" name="Image 0" descr="/mnt/data/scampulse_ppt_assets/notebook_data_understa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" y="2097634"/>
            <a:ext cx="5504688" cy="3302813"/>
          </a:xfrm>
          <a:prstGeom prst="rect">
            <a:avLst/>
          </a:prstGeom>
        </p:spPr>
      </p:pic>
      <p:pic>
        <p:nvPicPr>
          <p:cNvPr id="14" name="Image 1" descr="/mnt/data/scampulse_ppt_assets/notebook_data_quality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81344" y="1950842"/>
            <a:ext cx="5504688" cy="3596396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658368" y="5998464"/>
            <a:ext cx="5303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step: data1 … data8 loaded from the raw folder and combined row-wise.</a:t>
            </a:r>
            <a:endParaRPr lang="en-US" sz="950" dirty="0"/>
          </a:p>
        </p:txBody>
      </p:sp>
      <p:sp>
        <p:nvSpPr>
          <p:cNvPr id="16" name="Text 12"/>
          <p:cNvSpPr/>
          <p:nvPr/>
        </p:nvSpPr>
        <p:spPr>
          <a:xfrm>
            <a:off x="6309360" y="5998464"/>
            <a:ext cx="51663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Quality checks observed in the notebook: missing-value counts, exact duplicates and robocall values Y / N / missing.</a:t>
            </a:r>
            <a:endParaRPr lang="en-US" sz="950" dirty="0"/>
          </a:p>
        </p:txBody>
      </p:sp>
      <p:sp>
        <p:nvSpPr>
          <p:cNvPr id="17" name="Text 13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evidence: 1) Data Understanding.ipynb + 2) Data Quality.ipynb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Cleaning &amp; Transformation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cleaning decisions and final validation from the executed notebook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pic>
        <p:nvPicPr>
          <p:cNvPr id="5" name="Image 0" descr="/mnt/data/scampulse_ppt_assets/notebook_data_clean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230051"/>
            <a:ext cx="6473952" cy="5092842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7205472" y="1170432"/>
            <a:ext cx="4498848" cy="4553712"/>
          </a:xfrm>
          <a:prstGeom prst="roundRect">
            <a:avLst>
              <a:gd name="adj" fmla="val 243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7452360" y="1435608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STEPS PERFORMED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7452360" y="1810512"/>
            <a:ext cx="265176" cy="265176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452360" y="1860804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7845552" y="1792224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Remove duplicates</a:t>
            </a:r>
            <a:endParaRPr lang="en-US" sz="1100" dirty="0"/>
          </a:p>
        </p:txBody>
      </p:sp>
      <p:sp>
        <p:nvSpPr>
          <p:cNvPr id="11" name="Text 8"/>
          <p:cNvSpPr/>
          <p:nvPr/>
        </p:nvSpPr>
        <p:spPr>
          <a:xfrm>
            <a:off x="7845552" y="2039112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 exact duplicates removed; index reset.</a:t>
            </a:r>
            <a:endParaRPr lang="en-US" sz="940" dirty="0"/>
          </a:p>
        </p:txBody>
      </p:sp>
      <p:sp>
        <p:nvSpPr>
          <p:cNvPr id="12" name="Shape 9"/>
          <p:cNvSpPr/>
          <p:nvPr/>
        </p:nvSpPr>
        <p:spPr>
          <a:xfrm>
            <a:off x="7452360" y="2532888"/>
            <a:ext cx="265176" cy="265176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7452360" y="2583180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7845552" y="2514600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Handle missing values</a:t>
            </a:r>
            <a:endParaRPr lang="en-US" sz="1100" dirty="0"/>
          </a:p>
        </p:txBody>
      </p:sp>
      <p:sp>
        <p:nvSpPr>
          <p:cNvPr id="15" name="Text 12"/>
          <p:cNvSpPr/>
          <p:nvPr/>
        </p:nvSpPr>
        <p:spPr>
          <a:xfrm>
            <a:off x="7845552" y="2761488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 analytical fields represented as Not_Reported where appropriate.</a:t>
            </a:r>
            <a:endParaRPr lang="en-US" sz="940" dirty="0"/>
          </a:p>
        </p:txBody>
      </p:sp>
      <p:sp>
        <p:nvSpPr>
          <p:cNvPr id="16" name="Shape 13"/>
          <p:cNvSpPr/>
          <p:nvPr/>
        </p:nvSpPr>
        <p:spPr>
          <a:xfrm>
            <a:off x="7452360" y="3255264"/>
            <a:ext cx="265176" cy="265176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7452360" y="3305556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7845552" y="3236976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identifiers</a:t>
            </a:r>
            <a:endParaRPr lang="en-US" sz="1100" dirty="0"/>
          </a:p>
        </p:txBody>
      </p:sp>
      <p:sp>
        <p:nvSpPr>
          <p:cNvPr id="19" name="Text 16"/>
          <p:cNvSpPr/>
          <p:nvPr/>
        </p:nvSpPr>
        <p:spPr>
          <a:xfrm>
            <a:off x="7845552" y="3483864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Phone numbers validated as 10-digit strings; invalid/missing → Not_Reported.</a:t>
            </a:r>
            <a:endParaRPr lang="en-US" sz="940" dirty="0"/>
          </a:p>
        </p:txBody>
      </p:sp>
      <p:sp>
        <p:nvSpPr>
          <p:cNvPr id="20" name="Shape 17"/>
          <p:cNvSpPr/>
          <p:nvPr/>
        </p:nvSpPr>
        <p:spPr>
          <a:xfrm>
            <a:off x="7452360" y="3977640"/>
            <a:ext cx="265176" cy="265176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7452360" y="4027932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845552" y="3959352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Standardize categories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7845552" y="4206240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City/state/text formatting standardized; robocall normalized to Y / N / Not_Reported.</a:t>
            </a:r>
            <a:endParaRPr lang="en-US" sz="940" dirty="0"/>
          </a:p>
        </p:txBody>
      </p:sp>
      <p:sp>
        <p:nvSpPr>
          <p:cNvPr id="24" name="Shape 21"/>
          <p:cNvSpPr/>
          <p:nvPr/>
        </p:nvSpPr>
        <p:spPr>
          <a:xfrm>
            <a:off x="7452360" y="4700016"/>
            <a:ext cx="265176" cy="265176"/>
          </a:xfrm>
          <a:prstGeom prst="ellipse">
            <a:avLst/>
          </a:prstGeom>
          <a:solidFill>
            <a:srgbClr val="E7F8F8"/>
          </a:solidFill>
          <a:ln w="12700">
            <a:solidFill>
              <a:srgbClr val="E7F8F8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7452360" y="4750308"/>
            <a:ext cx="26517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845552" y="4681728"/>
            <a:ext cx="3520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Prepare dates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7845552" y="4928616"/>
            <a:ext cx="341985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Created_Date and Violation_Date converted to datetime; Invalid_Date_Order and Reporting_Delay_Days created.</a:t>
            </a:r>
            <a:endParaRPr lang="en-US" sz="940" dirty="0"/>
          </a:p>
        </p:txBody>
      </p:sp>
      <p:sp>
        <p:nvSpPr>
          <p:cNvPr id="28" name="Shape 25"/>
          <p:cNvSpPr/>
          <p:nvPr/>
        </p:nvSpPr>
        <p:spPr>
          <a:xfrm>
            <a:off x="7223760" y="5797296"/>
            <a:ext cx="135331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7223760" y="5797296"/>
            <a:ext cx="73152" cy="548640"/>
          </a:xfrm>
          <a:prstGeom prst="rect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7388352" y="5907024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 DATASET</a:t>
            </a:r>
            <a:endParaRPr lang="en-US" sz="850" dirty="0"/>
          </a:p>
        </p:txBody>
      </p:sp>
      <p:sp>
        <p:nvSpPr>
          <p:cNvPr id="31" name="Text 28"/>
          <p:cNvSpPr/>
          <p:nvPr/>
        </p:nvSpPr>
        <p:spPr>
          <a:xfrm>
            <a:off x="7388352" y="610819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84,678 × 10</a:t>
            </a:r>
            <a:endParaRPr lang="en-US" sz="2100" dirty="0"/>
          </a:p>
        </p:txBody>
      </p:sp>
      <p:sp>
        <p:nvSpPr>
          <p:cNvPr id="32" name="Shape 29"/>
          <p:cNvSpPr/>
          <p:nvPr/>
        </p:nvSpPr>
        <p:spPr>
          <a:xfrm>
            <a:off x="8732520" y="5797296"/>
            <a:ext cx="135331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3" name="Shape 30"/>
          <p:cNvSpPr/>
          <p:nvPr/>
        </p:nvSpPr>
        <p:spPr>
          <a:xfrm>
            <a:off x="8732520" y="5797296"/>
            <a:ext cx="73152" cy="548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8897112" y="5907024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NULLS REMAINING</a:t>
            </a:r>
            <a:endParaRPr lang="en-US" sz="850" dirty="0"/>
          </a:p>
        </p:txBody>
      </p:sp>
      <p:sp>
        <p:nvSpPr>
          <p:cNvPr id="35" name="Text 32"/>
          <p:cNvSpPr/>
          <p:nvPr/>
        </p:nvSpPr>
        <p:spPr>
          <a:xfrm>
            <a:off x="8897112" y="610819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100" dirty="0"/>
          </a:p>
        </p:txBody>
      </p:sp>
      <p:sp>
        <p:nvSpPr>
          <p:cNvPr id="36" name="Shape 33"/>
          <p:cNvSpPr/>
          <p:nvPr/>
        </p:nvSpPr>
        <p:spPr>
          <a:xfrm>
            <a:off x="10241280" y="5797296"/>
            <a:ext cx="1353312" cy="5486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10241280" y="5797296"/>
            <a:ext cx="73152" cy="548640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10405872" y="5907024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DUPLICATES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10405872" y="6108192"/>
            <a:ext cx="103327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58368" y="5998464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80" i="1" dirty="0">
                <a:solidFill>
                  <a:srgbClr val="C5303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3,864 negative reporting delays retained for traceability and flagged through the date-quality field.</a:t>
            </a:r>
            <a:endParaRPr lang="en-US" sz="880" dirty="0"/>
          </a:p>
        </p:txBody>
      </p:sp>
      <p:sp>
        <p:nvSpPr>
          <p:cNvPr id="41" name="Text 38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Notebook evidence: 3) Data Cleaning(1).ipynb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Exploratory Data Analysis (EDA)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Pandas + NumPy aggregations with Matplotlib outputs from the notebook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66928" y="11155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1475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Temporal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1362456" y="1115568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435608" y="11475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Subjects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194560" y="1115568"/>
            <a:ext cx="841248" cy="310896"/>
          </a:xfrm>
          <a:prstGeom prst="roundRect">
            <a:avLst>
              <a:gd name="adj" fmla="val 50000"/>
            </a:avLst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67712" y="1147572"/>
            <a:ext cx="6949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Robocall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108960" y="1115568"/>
            <a:ext cx="804672" cy="310896"/>
          </a:xfrm>
          <a:prstGeom prst="roundRect">
            <a:avLst>
              <a:gd name="adj" fmla="val 50000"/>
            </a:avLst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82112" y="1147572"/>
            <a:ext cx="65836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Geography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4005072" y="1115568"/>
            <a:ext cx="713232" cy="310896"/>
          </a:xfrm>
          <a:prstGeom prst="roundRect">
            <a:avLst>
              <a:gd name="adj" fmla="val 50000"/>
            </a:avLst>
          </a:prstGeom>
          <a:solidFill>
            <a:srgbClr val="6B7280"/>
          </a:solidFill>
          <a:ln w="12700">
            <a:solidFill>
              <a:srgbClr val="6B728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078224" y="1147572"/>
            <a:ext cx="56692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Numbers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809744" y="1115568"/>
            <a:ext cx="749808" cy="310896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882896" y="1147572"/>
            <a:ext cx="6035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2920" y="1554480"/>
            <a:ext cx="6629400" cy="4206240"/>
          </a:xfrm>
          <a:prstGeom prst="roundRect">
            <a:avLst>
              <a:gd name="adj" fmla="val 2609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8" name="Image 0" descr="/mnt/data/ScamPulse_AI_GitHub_Visualizations_FINAL/daily_complaint_volu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14777" y="1700784"/>
            <a:ext cx="4996543" cy="2057400"/>
          </a:xfrm>
          <a:prstGeom prst="rect">
            <a:avLst/>
          </a:prstGeom>
        </p:spPr>
      </p:pic>
      <p:pic>
        <p:nvPicPr>
          <p:cNvPr id="19" name="Image 1" descr="/mnt/data/ScamPulse_AI_GitHub_Visualizations_FINAL/complaint_subject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6905" y="3840480"/>
            <a:ext cx="2912287" cy="1737360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676656" y="5623560"/>
            <a:ext cx="6263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2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Matplotlib outputs: daily complaint volume + top complaint subjects</a:t>
            </a:r>
            <a:endParaRPr lang="en-US" sz="920" dirty="0"/>
          </a:p>
        </p:txBody>
      </p:sp>
      <p:sp>
        <p:nvSpPr>
          <p:cNvPr id="21" name="Text 17"/>
          <p:cNvSpPr/>
          <p:nvPr/>
        </p:nvSpPr>
        <p:spPr>
          <a:xfrm>
            <a:off x="7406640" y="1481328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Important findings</a:t>
            </a:r>
            <a:endParaRPr lang="en-US" sz="2000" dirty="0"/>
          </a:p>
        </p:txBody>
      </p:sp>
      <p:sp>
        <p:nvSpPr>
          <p:cNvPr id="22" name="Shape 18"/>
          <p:cNvSpPr/>
          <p:nvPr/>
        </p:nvSpPr>
        <p:spPr>
          <a:xfrm>
            <a:off x="7406640" y="1874520"/>
            <a:ext cx="4242816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406640" y="1874520"/>
            <a:ext cx="73152" cy="758952"/>
          </a:xfrm>
          <a:prstGeom prst="rect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4" name="Text 20"/>
          <p:cNvSpPr/>
          <p:nvPr/>
        </p:nvSpPr>
        <p:spPr>
          <a:xfrm>
            <a:off x="7571232" y="1984248"/>
            <a:ext cx="3922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PEAK DAY</a:t>
            </a:r>
            <a:endParaRPr lang="en-US" sz="850" dirty="0"/>
          </a:p>
        </p:txBody>
      </p:sp>
      <p:sp>
        <p:nvSpPr>
          <p:cNvPr id="25" name="Text 21"/>
          <p:cNvSpPr/>
          <p:nvPr/>
        </p:nvSpPr>
        <p:spPr>
          <a:xfrm>
            <a:off x="7571232" y="2185416"/>
            <a:ext cx="3922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 Sep 2026 • 12,296</a:t>
            </a:r>
            <a:endParaRPr lang="en-US" sz="2100" dirty="0"/>
          </a:p>
        </p:txBody>
      </p:sp>
      <p:sp>
        <p:nvSpPr>
          <p:cNvPr id="26" name="Shape 22"/>
          <p:cNvSpPr/>
          <p:nvPr/>
        </p:nvSpPr>
        <p:spPr>
          <a:xfrm>
            <a:off x="7406640" y="2724912"/>
            <a:ext cx="4242816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7406640" y="2724912"/>
            <a:ext cx="73152" cy="758952"/>
          </a:xfrm>
          <a:prstGeom prst="rect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28" name="Text 24"/>
          <p:cNvSpPr/>
          <p:nvPr/>
        </p:nvSpPr>
        <p:spPr>
          <a:xfrm>
            <a:off x="7571232" y="2834640"/>
            <a:ext cx="3922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LOWEST DAY</a:t>
            </a:r>
            <a:endParaRPr lang="en-US" sz="850" dirty="0"/>
          </a:p>
        </p:txBody>
      </p:sp>
      <p:sp>
        <p:nvSpPr>
          <p:cNvPr id="29" name="Text 25"/>
          <p:cNvSpPr/>
          <p:nvPr/>
        </p:nvSpPr>
        <p:spPr>
          <a:xfrm>
            <a:off x="7571232" y="3035808"/>
            <a:ext cx="3922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 Sep 2026 • 1,628</a:t>
            </a:r>
            <a:endParaRPr lang="en-US" sz="2100" dirty="0"/>
          </a:p>
        </p:txBody>
      </p:sp>
      <p:sp>
        <p:nvSpPr>
          <p:cNvPr id="30" name="Shape 26"/>
          <p:cNvSpPr/>
          <p:nvPr/>
        </p:nvSpPr>
        <p:spPr>
          <a:xfrm>
            <a:off x="7406640" y="3575304"/>
            <a:ext cx="4242816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7406640" y="3575304"/>
            <a:ext cx="73152" cy="758952"/>
          </a:xfrm>
          <a:prstGeom prst="rect">
            <a:avLst/>
          </a:prstGeom>
          <a:solidFill>
            <a:srgbClr val="2F855A"/>
          </a:solidFill>
          <a:ln w="12700">
            <a:solidFill>
              <a:srgbClr val="2F855A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7571232" y="3685032"/>
            <a:ext cx="3922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LEADING SUBJECT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7571232" y="3886200"/>
            <a:ext cx="3922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Other • 31,724 • 37.46%</a:t>
            </a:r>
            <a:endParaRPr lang="en-US" sz="2100" dirty="0"/>
          </a:p>
        </p:txBody>
      </p:sp>
      <p:sp>
        <p:nvSpPr>
          <p:cNvPr id="34" name="Shape 30"/>
          <p:cNvSpPr/>
          <p:nvPr/>
        </p:nvSpPr>
        <p:spPr>
          <a:xfrm>
            <a:off x="7406640" y="4425696"/>
            <a:ext cx="4242816" cy="758952"/>
          </a:xfrm>
          <a:prstGeom prst="roundRect">
            <a:avLst>
              <a:gd name="adj" fmla="val 14458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7406640" y="4425696"/>
            <a:ext cx="73152" cy="75895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36" name="Text 32"/>
          <p:cNvSpPr/>
          <p:nvPr/>
        </p:nvSpPr>
        <p:spPr>
          <a:xfrm>
            <a:off x="7571232" y="4535424"/>
            <a:ext cx="392277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b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DEBT-RELATED SUBJECT</a:t>
            </a:r>
            <a:endParaRPr lang="en-US" sz="850" dirty="0"/>
          </a:p>
        </p:txBody>
      </p:sp>
      <p:sp>
        <p:nvSpPr>
          <p:cNvPr id="37" name="Text 33"/>
          <p:cNvSpPr/>
          <p:nvPr/>
        </p:nvSpPr>
        <p:spPr>
          <a:xfrm>
            <a:off x="7571232" y="4736592"/>
            <a:ext cx="3922776" cy="3749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1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21,465 • 25.35%</a:t>
            </a:r>
            <a:endParaRPr lang="en-US" sz="2100" dirty="0"/>
          </a:p>
        </p:txBody>
      </p:sp>
      <p:sp>
        <p:nvSpPr>
          <p:cNvPr id="38" name="Text 34"/>
          <p:cNvSpPr/>
          <p:nvPr/>
        </p:nvSpPr>
        <p:spPr>
          <a:xfrm>
            <a:off x="7406640" y="5376672"/>
            <a:ext cx="41605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2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EDA also covered time-of-day, day-of-week, subject × robocall, state/city/area-code concentration, originating-number recurrence, reporting delay and emerging-pattern comparisons.</a:t>
            </a:r>
            <a:endParaRPr lang="en-US" sz="1020" dirty="0"/>
          </a:p>
        </p:txBody>
      </p:sp>
      <p:sp>
        <p:nvSpPr>
          <p:cNvPr id="39" name="Text 35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notebook outputs: 4) EDA.ipynb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Visualization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Actual chart outputs from the project notebook — Chart → Purpose → What it shows → Key insight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18872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6" name="Image 0" descr="/mnt/data/ScamPulse_AI_GitHub_Visualizations_FINAL/robocall_analysi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8511" y="1335024"/>
            <a:ext cx="2802953" cy="19933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3840480" y="136245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Robocall / Recorded Message Pattern</a:t>
            </a:r>
            <a:endParaRPr lang="en-US" sz="1140" dirty="0"/>
          </a:p>
        </p:txBody>
      </p:sp>
      <p:sp>
        <p:nvSpPr>
          <p:cNvPr id="8" name="Text 5"/>
          <p:cNvSpPr/>
          <p:nvPr/>
        </p:nvSpPr>
        <p:spPr>
          <a:xfrm>
            <a:off x="3840480" y="19385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compare Y / N / Not_Reported status.</a:t>
            </a:r>
            <a:endParaRPr lang="en-US" sz="910" dirty="0"/>
          </a:p>
        </p:txBody>
      </p:sp>
      <p:sp>
        <p:nvSpPr>
          <p:cNvPr id="9" name="Text 6"/>
          <p:cNvSpPr/>
          <p:nvPr/>
        </p:nvSpPr>
        <p:spPr>
          <a:xfrm>
            <a:off x="3840480" y="2423160"/>
            <a:ext cx="1938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Shows: 59,405 Y • 20,357 N • 4,916 Not_Reported.</a:t>
            </a:r>
            <a:endParaRPr lang="en-US" sz="910" dirty="0"/>
          </a:p>
        </p:txBody>
      </p:sp>
      <p:sp>
        <p:nvSpPr>
          <p:cNvPr id="10" name="Text 7"/>
          <p:cNvSpPr/>
          <p:nvPr/>
        </p:nvSpPr>
        <p:spPr>
          <a:xfrm>
            <a:off x="3840480" y="29077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insight: 70.2% of complaint records are marked Y.</a:t>
            </a:r>
            <a:endParaRPr lang="en-US" sz="925" dirty="0"/>
          </a:p>
        </p:txBody>
      </p:sp>
      <p:sp>
        <p:nvSpPr>
          <p:cNvPr id="11" name="Shape 8"/>
          <p:cNvSpPr/>
          <p:nvPr/>
        </p:nvSpPr>
        <p:spPr>
          <a:xfrm>
            <a:off x="6153912" y="118872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2" name="Image 1" descr="/mnt/data/ScamPulse_AI_GitHub_Visualizations_FINAL/geographic_analysi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390739"/>
            <a:ext cx="3154680" cy="188196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9491472" y="136245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Top States by Complaint Volume</a:t>
            </a:r>
            <a:endParaRPr lang="en-US" sz="1140" dirty="0"/>
          </a:p>
        </p:txBody>
      </p:sp>
      <p:sp>
        <p:nvSpPr>
          <p:cNvPr id="14" name="Text 10"/>
          <p:cNvSpPr/>
          <p:nvPr/>
        </p:nvSpPr>
        <p:spPr>
          <a:xfrm>
            <a:off x="9491472" y="19385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identify geographic concentration.</a:t>
            </a:r>
            <a:endParaRPr lang="en-US" sz="910" dirty="0"/>
          </a:p>
        </p:txBody>
      </p:sp>
      <p:sp>
        <p:nvSpPr>
          <p:cNvPr id="15" name="Text 11"/>
          <p:cNvSpPr/>
          <p:nvPr/>
        </p:nvSpPr>
        <p:spPr>
          <a:xfrm>
            <a:off x="9491472" y="2423160"/>
            <a:ext cx="1938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Shows: top states ranked by complaint volume.</a:t>
            </a:r>
            <a:endParaRPr lang="en-US" sz="910" dirty="0"/>
          </a:p>
        </p:txBody>
      </p:sp>
      <p:sp>
        <p:nvSpPr>
          <p:cNvPr id="16" name="Text 12"/>
          <p:cNvSpPr/>
          <p:nvPr/>
        </p:nvSpPr>
        <p:spPr>
          <a:xfrm>
            <a:off x="9491472" y="29077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insight: California is the top state in the analyzed records.</a:t>
            </a:r>
            <a:endParaRPr lang="en-US" sz="925" dirty="0"/>
          </a:p>
        </p:txBody>
      </p:sp>
      <p:sp>
        <p:nvSpPr>
          <p:cNvPr id="17" name="Shape 13"/>
          <p:cNvSpPr/>
          <p:nvPr/>
        </p:nvSpPr>
        <p:spPr>
          <a:xfrm>
            <a:off x="502920" y="370332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18" name="Image 2" descr="/mnt/data/ScamPulse_AI_GitHub_Visualizations_FINAL/reported_numb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905339"/>
            <a:ext cx="3154680" cy="188196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3840480" y="387705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 Frequently Reported Originating Numbers</a:t>
            </a:r>
            <a:endParaRPr lang="en-US" sz="1140" dirty="0"/>
          </a:p>
        </p:txBody>
      </p:sp>
      <p:sp>
        <p:nvSpPr>
          <p:cNvPr id="20" name="Text 15"/>
          <p:cNvSpPr/>
          <p:nvPr/>
        </p:nvSpPr>
        <p:spPr>
          <a:xfrm>
            <a:off x="3840480" y="4453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detect recurrence among reported numbers.</a:t>
            </a:r>
            <a:endParaRPr lang="en-US" sz="910" dirty="0"/>
          </a:p>
        </p:txBody>
      </p:sp>
      <p:sp>
        <p:nvSpPr>
          <p:cNvPr id="21" name="Text 16"/>
          <p:cNvSpPr/>
          <p:nvPr/>
        </p:nvSpPr>
        <p:spPr>
          <a:xfrm>
            <a:off x="3840480" y="4937760"/>
            <a:ext cx="1938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Shows: the most frequently reported originating numbers.</a:t>
            </a:r>
            <a:endParaRPr lang="en-US" sz="910" dirty="0"/>
          </a:p>
        </p:txBody>
      </p:sp>
      <p:sp>
        <p:nvSpPr>
          <p:cNvPr id="22" name="Text 17"/>
          <p:cNvSpPr/>
          <p:nvPr/>
        </p:nvSpPr>
        <p:spPr>
          <a:xfrm>
            <a:off x="3840480" y="54223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insight: 70,265 distinct reported numbers; 4,767 were reported more than once.</a:t>
            </a:r>
            <a:endParaRPr lang="en-US" sz="925" dirty="0"/>
          </a:p>
        </p:txBody>
      </p:sp>
      <p:sp>
        <p:nvSpPr>
          <p:cNvPr id="23" name="Shape 18"/>
          <p:cNvSpPr/>
          <p:nvPr/>
        </p:nvSpPr>
        <p:spPr>
          <a:xfrm>
            <a:off x="6153912" y="3703320"/>
            <a:ext cx="5532120" cy="233172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pic>
        <p:nvPicPr>
          <p:cNvPr id="24" name="Image 3" descr="/mnt/data/ScamPulse_AI_GitHub_Visualizations_FINAL/emerging_subject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3640" y="3905339"/>
            <a:ext cx="3154680" cy="188196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491472" y="3877056"/>
            <a:ext cx="1947672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4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Emerging Complaint Subjects</a:t>
            </a:r>
            <a:endParaRPr lang="en-US" sz="1140" dirty="0"/>
          </a:p>
        </p:txBody>
      </p:sp>
      <p:sp>
        <p:nvSpPr>
          <p:cNvPr id="26" name="Text 20"/>
          <p:cNvSpPr/>
          <p:nvPr/>
        </p:nvSpPr>
        <p:spPr>
          <a:xfrm>
            <a:off x="9491472" y="4453128"/>
            <a:ext cx="193852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Purpose: compare recent 3 available dates vs previous 3.</a:t>
            </a:r>
            <a:endParaRPr lang="en-US" sz="910" dirty="0"/>
          </a:p>
        </p:txBody>
      </p:sp>
      <p:sp>
        <p:nvSpPr>
          <p:cNvPr id="27" name="Text 21"/>
          <p:cNvSpPr/>
          <p:nvPr/>
        </p:nvSpPr>
        <p:spPr>
          <a:xfrm>
            <a:off x="9491472" y="4937760"/>
            <a:ext cx="1938528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1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Shows: subjects with increasing recent-period counts.</a:t>
            </a:r>
            <a:endParaRPr lang="en-US" sz="910" dirty="0"/>
          </a:p>
        </p:txBody>
      </p:sp>
      <p:sp>
        <p:nvSpPr>
          <p:cNvPr id="28" name="Text 22"/>
          <p:cNvSpPr/>
          <p:nvPr/>
        </p:nvSpPr>
        <p:spPr>
          <a:xfrm>
            <a:off x="9491472" y="5422392"/>
            <a:ext cx="193852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925" b="1" dirty="0">
                <a:solidFill>
                  <a:srgbClr val="102A4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insight: “Other” increased by +3,053 reports.</a:t>
            </a:r>
            <a:endParaRPr lang="en-US" sz="925" dirty="0"/>
          </a:p>
        </p:txBody>
      </p:sp>
      <p:sp>
        <p:nvSpPr>
          <p:cNvPr id="29" name="Text 23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Static charts are exact notebook outputs; dashboard adds Plotly interactivity for the same analysis.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Insights &amp; Recommendations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actual dataset analysis supports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566928" y="1115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KEY INSIGHTS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172200" y="1115568"/>
            <a:ext cx="1417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FFB4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RECOMMENDATIONS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566928" y="1426464"/>
            <a:ext cx="5230368" cy="649224"/>
          </a:xfrm>
          <a:prstGeom prst="roundRect">
            <a:avLst>
              <a:gd name="adj" fmla="val 16901"/>
            </a:avLst>
          </a:prstGeom>
          <a:solidFill>
            <a:srgbClr val="E7F8F8"/>
          </a:solidFill>
          <a:ln w="12700">
            <a:solidFill>
              <a:srgbClr val="C7EAE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9808" y="15910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216152" y="1517904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Complaint activity varies sharply by date: 12,296 on 03 Sep vs 1,628 on 06 Sep.</a:t>
            </a:r>
            <a:endParaRPr lang="en-US" sz="1030" dirty="0"/>
          </a:p>
        </p:txBody>
      </p:sp>
      <p:sp>
        <p:nvSpPr>
          <p:cNvPr id="10" name="Shape 8"/>
          <p:cNvSpPr/>
          <p:nvPr/>
        </p:nvSpPr>
        <p:spPr>
          <a:xfrm>
            <a:off x="566928" y="2258568"/>
            <a:ext cx="5230368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49808" y="24231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216152" y="2350008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“Other” is the largest subject: 31,724 reports (37.46%).</a:t>
            </a:r>
            <a:endParaRPr lang="en-US" sz="1030" dirty="0"/>
          </a:p>
        </p:txBody>
      </p:sp>
      <p:sp>
        <p:nvSpPr>
          <p:cNvPr id="13" name="Shape 11"/>
          <p:cNvSpPr/>
          <p:nvPr/>
        </p:nvSpPr>
        <p:spPr>
          <a:xfrm>
            <a:off x="566928" y="3090672"/>
            <a:ext cx="5230368" cy="649224"/>
          </a:xfrm>
          <a:prstGeom prst="roundRect">
            <a:avLst>
              <a:gd name="adj" fmla="val 16901"/>
            </a:avLst>
          </a:prstGeom>
          <a:solidFill>
            <a:srgbClr val="E7F8F8"/>
          </a:solidFill>
          <a:ln w="12700">
            <a:solidFill>
              <a:srgbClr val="C7EAE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552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216152" y="3182112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Debt-related complaints contribute 21,465 reports (25.35%).</a:t>
            </a:r>
            <a:endParaRPr lang="en-US" sz="1030" dirty="0"/>
          </a:p>
        </p:txBody>
      </p:sp>
      <p:sp>
        <p:nvSpPr>
          <p:cNvPr id="16" name="Shape 14"/>
          <p:cNvSpPr/>
          <p:nvPr/>
        </p:nvSpPr>
        <p:spPr>
          <a:xfrm>
            <a:off x="566928" y="3922776"/>
            <a:ext cx="5230368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216152" y="4014216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70.2% of records are marked as recorded-message / robocall (Y).</a:t>
            </a:r>
            <a:endParaRPr lang="en-US" sz="1030" dirty="0"/>
          </a:p>
        </p:txBody>
      </p:sp>
      <p:sp>
        <p:nvSpPr>
          <p:cNvPr id="19" name="Shape 17"/>
          <p:cNvSpPr/>
          <p:nvPr/>
        </p:nvSpPr>
        <p:spPr>
          <a:xfrm>
            <a:off x="566928" y="4754880"/>
            <a:ext cx="5230368" cy="649224"/>
          </a:xfrm>
          <a:prstGeom prst="roundRect">
            <a:avLst>
              <a:gd name="adj" fmla="val 16901"/>
            </a:avLst>
          </a:prstGeom>
          <a:solidFill>
            <a:srgbClr val="E7F8F8"/>
          </a:solidFill>
          <a:ln w="12700">
            <a:solidFill>
              <a:srgbClr val="C7EAE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49808" y="4919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216152" y="4846320"/>
            <a:ext cx="4315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California is the top state; 4,767 originating numbers recur in the dataset.</a:t>
            </a:r>
            <a:endParaRPr lang="en-US" sz="1030" dirty="0"/>
          </a:p>
        </p:txBody>
      </p:sp>
      <p:sp>
        <p:nvSpPr>
          <p:cNvPr id="22" name="Shape 20"/>
          <p:cNvSpPr/>
          <p:nvPr/>
        </p:nvSpPr>
        <p:spPr>
          <a:xfrm>
            <a:off x="6172200" y="1426464"/>
            <a:ext cx="5175504" cy="649224"/>
          </a:xfrm>
          <a:prstGeom prst="roundRect">
            <a:avLst>
              <a:gd name="adj" fmla="val 16901"/>
            </a:avLst>
          </a:prstGeom>
          <a:solidFill>
            <a:srgbClr val="FFF3E0"/>
          </a:solidFill>
          <a:ln w="12700">
            <a:solidFill>
              <a:srgbClr val="F0D4A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1591056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812280" y="1517904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Monitor daily volume with a trend/rolling-average view to surface spikes and drops.</a:t>
            </a:r>
            <a:endParaRPr lang="en-US" sz="1030" dirty="0"/>
          </a:p>
        </p:txBody>
      </p:sp>
      <p:sp>
        <p:nvSpPr>
          <p:cNvPr id="25" name="Shape 23"/>
          <p:cNvSpPr/>
          <p:nvPr/>
        </p:nvSpPr>
        <p:spPr>
          <a:xfrm>
            <a:off x="6172200" y="2258568"/>
            <a:ext cx="517550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2423160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812280" y="2350008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high-volume subjects for deeper pattern review.</a:t>
            </a:r>
            <a:endParaRPr lang="en-US" sz="1030" dirty="0"/>
          </a:p>
        </p:txBody>
      </p:sp>
      <p:sp>
        <p:nvSpPr>
          <p:cNvPr id="28" name="Shape 26"/>
          <p:cNvSpPr/>
          <p:nvPr/>
        </p:nvSpPr>
        <p:spPr>
          <a:xfrm>
            <a:off x="6172200" y="3090672"/>
            <a:ext cx="5175504" cy="649224"/>
          </a:xfrm>
          <a:prstGeom prst="roundRect">
            <a:avLst>
              <a:gd name="adj" fmla="val 16901"/>
            </a:avLst>
          </a:prstGeom>
          <a:solidFill>
            <a:srgbClr val="FFF3E0"/>
          </a:solidFill>
          <a:ln w="12700">
            <a:solidFill>
              <a:srgbClr val="F0D4A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55080" y="3255264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6812280" y="3182112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robocall status as one monitoring dimension alongside subject and time.</a:t>
            </a:r>
            <a:endParaRPr lang="en-US" sz="1030" dirty="0"/>
          </a:p>
        </p:txBody>
      </p:sp>
      <p:sp>
        <p:nvSpPr>
          <p:cNvPr id="31" name="Shape 29"/>
          <p:cNvSpPr/>
          <p:nvPr/>
        </p:nvSpPr>
        <p:spPr>
          <a:xfrm>
            <a:off x="6172200" y="3922776"/>
            <a:ext cx="5175504" cy="649224"/>
          </a:xfrm>
          <a:prstGeom prst="roundRect">
            <a:avLst>
              <a:gd name="adj" fmla="val 16901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355080" y="4087368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12280" y="4014216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 repeated and emerging numbers for review — do not label them as confirmed fraud from complaint frequency alone.</a:t>
            </a:r>
            <a:endParaRPr lang="en-US" sz="1030" dirty="0"/>
          </a:p>
        </p:txBody>
      </p:sp>
      <p:sp>
        <p:nvSpPr>
          <p:cNvPr id="34" name="Shape 32"/>
          <p:cNvSpPr/>
          <p:nvPr/>
        </p:nvSpPr>
        <p:spPr>
          <a:xfrm>
            <a:off x="6172200" y="4754880"/>
            <a:ext cx="5175504" cy="649224"/>
          </a:xfrm>
          <a:prstGeom prst="roundRect">
            <a:avLst>
              <a:gd name="adj" fmla="val 16901"/>
            </a:avLst>
          </a:prstGeom>
          <a:solidFill>
            <a:srgbClr val="FFF3E0"/>
          </a:solidFill>
          <a:ln w="12700">
            <a:solidFill>
              <a:srgbClr val="F0D4A7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55080" y="4919472"/>
            <a:ext cx="3657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B7791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812280" y="4846320"/>
            <a:ext cx="42519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030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date-quality flags and use valid reporting delays for delay-specific analysis.</a:t>
            </a:r>
            <a:endParaRPr lang="en-US" sz="1030" dirty="0"/>
          </a:p>
        </p:txBody>
      </p:sp>
      <p:sp>
        <p:nvSpPr>
          <p:cNvPr id="37" name="Shape 35"/>
          <p:cNvSpPr/>
          <p:nvPr/>
        </p:nvSpPr>
        <p:spPr>
          <a:xfrm>
            <a:off x="566928" y="5696712"/>
            <a:ext cx="10780776" cy="411480"/>
          </a:xfrm>
          <a:prstGeom prst="roundRect">
            <a:avLst>
              <a:gd name="adj" fmla="val 26667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04672" y="5797296"/>
            <a:ext cx="10287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Interpretation rule: consumer complaint frequency is a monitoring signal, not confirmation of fraud.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project-provided notebook and dataset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10896"/>
            <a:ext cx="10881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3" name="Text 1"/>
          <p:cNvSpPr/>
          <p:nvPr/>
        </p:nvSpPr>
        <p:spPr>
          <a:xfrm>
            <a:off x="502920" y="804672"/>
            <a:ext cx="10881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250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Sprint 1 turns raw complaint data into a reusable analytical foundation</a:t>
            </a:r>
            <a:endParaRPr lang="en-US" sz="1250" dirty="0"/>
          </a:p>
        </p:txBody>
      </p:sp>
      <p:sp>
        <p:nvSpPr>
          <p:cNvPr id="4" name="Text 2"/>
          <p:cNvSpPr/>
          <p:nvPr/>
        </p:nvSpPr>
        <p:spPr>
          <a:xfrm>
            <a:off x="10972800" y="329184"/>
            <a:ext cx="685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02920" y="1234440"/>
            <a:ext cx="5623560" cy="4526280"/>
          </a:xfrm>
          <a:prstGeom prst="roundRect">
            <a:avLst>
              <a:gd name="adj" fmla="val 2424"/>
            </a:avLst>
          </a:prstGeom>
          <a:solidFill>
            <a:srgbClr val="0B132B"/>
          </a:solidFill>
          <a:ln w="12700">
            <a:solidFill>
              <a:srgbClr val="0B132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77240" y="1527048"/>
            <a:ext cx="2057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WAS ACHIEVED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" y="1865376"/>
            <a:ext cx="47091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reproducible path from raw complaint records to cleaned data, deep EDA and an interactive Plotly dashboard.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77240" y="2889504"/>
            <a:ext cx="3794760" cy="429768"/>
          </a:xfrm>
          <a:prstGeom prst="roundRect">
            <a:avLst>
              <a:gd name="adj" fmla="val 25532"/>
            </a:avLst>
          </a:prstGeom>
          <a:solidFill>
            <a:srgbClr val="1A2A4C"/>
          </a:solidFill>
          <a:ln w="12700">
            <a:solidFill>
              <a:srgbClr val="2C436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32688" y="2999232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Raw complaint records</a:t>
            </a:r>
            <a:endParaRPr lang="en-US" sz="1070" dirty="0"/>
          </a:p>
        </p:txBody>
      </p:sp>
      <p:sp>
        <p:nvSpPr>
          <p:cNvPr id="10" name="Shape 8"/>
          <p:cNvSpPr/>
          <p:nvPr/>
        </p:nvSpPr>
        <p:spPr>
          <a:xfrm>
            <a:off x="2670048" y="3319272"/>
            <a:ext cx="0" cy="146304"/>
          </a:xfrm>
          <a:prstGeom prst="line">
            <a:avLst/>
          </a:prstGeom>
          <a:noFill/>
          <a:ln w="17780">
            <a:solidFill>
              <a:srgbClr val="20C4C8"/>
            </a:solidFill>
            <a:prstDash val="solid"/>
            <a:headEnd type="none"/>
            <a:tailEnd type="none"/>
          </a:ln>
        </p:spPr>
      </p:sp>
      <p:sp>
        <p:nvSpPr>
          <p:cNvPr id="11" name="Shape 9"/>
          <p:cNvSpPr/>
          <p:nvPr/>
        </p:nvSpPr>
        <p:spPr>
          <a:xfrm>
            <a:off x="777240" y="3474720"/>
            <a:ext cx="3794760" cy="429768"/>
          </a:xfrm>
          <a:prstGeom prst="roundRect">
            <a:avLst>
              <a:gd name="adj" fmla="val 25532"/>
            </a:avLst>
          </a:prstGeom>
          <a:solidFill>
            <a:srgbClr val="1A2A4C"/>
          </a:solidFill>
          <a:ln w="12700">
            <a:solidFill>
              <a:srgbClr val="2C436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32688" y="3584448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Cleaned dataset</a:t>
            </a:r>
            <a:endParaRPr lang="en-US" sz="1070" dirty="0"/>
          </a:p>
        </p:txBody>
      </p:sp>
      <p:sp>
        <p:nvSpPr>
          <p:cNvPr id="13" name="Shape 11"/>
          <p:cNvSpPr/>
          <p:nvPr/>
        </p:nvSpPr>
        <p:spPr>
          <a:xfrm>
            <a:off x="2670048" y="3904488"/>
            <a:ext cx="0" cy="146304"/>
          </a:xfrm>
          <a:prstGeom prst="line">
            <a:avLst/>
          </a:prstGeom>
          <a:noFill/>
          <a:ln w="17780">
            <a:solidFill>
              <a:srgbClr val="20C4C8"/>
            </a:solidFill>
            <a:prstDash val="solid"/>
            <a:headEnd type="none"/>
            <a:tailEnd type="none"/>
          </a:ln>
        </p:spPr>
      </p:sp>
      <p:sp>
        <p:nvSpPr>
          <p:cNvPr id="14" name="Shape 12"/>
          <p:cNvSpPr/>
          <p:nvPr/>
        </p:nvSpPr>
        <p:spPr>
          <a:xfrm>
            <a:off x="777240" y="4059936"/>
            <a:ext cx="3794760" cy="429768"/>
          </a:xfrm>
          <a:prstGeom prst="roundRect">
            <a:avLst>
              <a:gd name="adj" fmla="val 25532"/>
            </a:avLst>
          </a:prstGeom>
          <a:solidFill>
            <a:srgbClr val="1A2A4C"/>
          </a:solidFill>
          <a:ln w="12700">
            <a:solidFill>
              <a:srgbClr val="2C436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32688" y="4169664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EDA</a:t>
            </a:r>
            <a:endParaRPr lang="en-US" sz="1070" dirty="0"/>
          </a:p>
        </p:txBody>
      </p:sp>
      <p:sp>
        <p:nvSpPr>
          <p:cNvPr id="16" name="Shape 14"/>
          <p:cNvSpPr/>
          <p:nvPr/>
        </p:nvSpPr>
        <p:spPr>
          <a:xfrm>
            <a:off x="2670048" y="4489704"/>
            <a:ext cx="0" cy="146304"/>
          </a:xfrm>
          <a:prstGeom prst="line">
            <a:avLst/>
          </a:prstGeom>
          <a:noFill/>
          <a:ln w="17780">
            <a:solidFill>
              <a:srgbClr val="20C4C8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" y="4645152"/>
            <a:ext cx="3794760" cy="429768"/>
          </a:xfrm>
          <a:prstGeom prst="roundRect">
            <a:avLst>
              <a:gd name="adj" fmla="val 25532"/>
            </a:avLst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32688" y="4754880"/>
            <a:ext cx="349300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7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Interactive dashboard</a:t>
            </a:r>
            <a:endParaRPr lang="en-US" sz="1070" dirty="0"/>
          </a:p>
        </p:txBody>
      </p:sp>
      <p:sp>
        <p:nvSpPr>
          <p:cNvPr id="19" name="Text 17"/>
          <p:cNvSpPr/>
          <p:nvPr/>
        </p:nvSpPr>
        <p:spPr>
          <a:xfrm>
            <a:off x="777240" y="540410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9FB3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Major findings</a:t>
            </a:r>
            <a:endParaRPr lang="en-US" sz="870" dirty="0"/>
          </a:p>
        </p:txBody>
      </p:sp>
      <p:sp>
        <p:nvSpPr>
          <p:cNvPr id="20" name="Text 18"/>
          <p:cNvSpPr/>
          <p:nvPr/>
        </p:nvSpPr>
        <p:spPr>
          <a:xfrm>
            <a:off x="1856232" y="5340096"/>
            <a:ext cx="3840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10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84,678 processed rows • 70.2% robocall-marked • 4,767 repeated numbers</a:t>
            </a:r>
            <a:endParaRPr lang="en-US" sz="1060" dirty="0"/>
          </a:p>
        </p:txBody>
      </p:sp>
      <p:sp>
        <p:nvSpPr>
          <p:cNvPr id="21" name="Text 19"/>
          <p:cNvSpPr/>
          <p:nvPr/>
        </p:nvSpPr>
        <p:spPr>
          <a:xfrm>
            <a:off x="6492240" y="1280160"/>
            <a:ext cx="1234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20C4C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SCOPE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492240" y="1600200"/>
            <a:ext cx="4663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analytics to intelligent detection</a:t>
            </a:r>
            <a:endParaRPr lang="en-US" sz="2200" dirty="0"/>
          </a:p>
        </p:txBody>
      </p:sp>
      <p:sp>
        <p:nvSpPr>
          <p:cNvPr id="23" name="Shape 21"/>
          <p:cNvSpPr/>
          <p:nvPr/>
        </p:nvSpPr>
        <p:spPr>
          <a:xfrm>
            <a:off x="6492240" y="2395728"/>
            <a:ext cx="868680" cy="1426464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757416" y="2596896"/>
            <a:ext cx="338328" cy="3383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757416" y="2706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26" name="Text 24"/>
          <p:cNvSpPr/>
          <p:nvPr/>
        </p:nvSpPr>
        <p:spPr>
          <a:xfrm>
            <a:off x="6565392" y="3081528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7507224" y="2395728"/>
            <a:ext cx="868680" cy="1426464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772400" y="2596896"/>
            <a:ext cx="338328" cy="3383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772400" y="2706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30" name="Text 28"/>
          <p:cNvSpPr/>
          <p:nvPr/>
        </p:nvSpPr>
        <p:spPr>
          <a:xfrm>
            <a:off x="7580376" y="3081528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Anomaly detection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8522208" y="2395728"/>
            <a:ext cx="868680" cy="1426464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8787384" y="2596896"/>
            <a:ext cx="338328" cy="3383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8787384" y="2706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8595360" y="3081528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Risk scoring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9537192" y="2395728"/>
            <a:ext cx="868680" cy="1426464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9E2EC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9802368" y="2596896"/>
            <a:ext cx="338328" cy="338328"/>
          </a:xfrm>
          <a:prstGeom prst="ellipse">
            <a:avLst/>
          </a:prstGeom>
          <a:solidFill>
            <a:srgbClr val="20C4C8"/>
          </a:solidFill>
          <a:ln w="12700">
            <a:solidFill>
              <a:srgbClr val="20C4C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9802368" y="2706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38" name="Text 36"/>
          <p:cNvSpPr/>
          <p:nvPr/>
        </p:nvSpPr>
        <p:spPr>
          <a:xfrm>
            <a:off x="9610344" y="3081528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ML classifier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10552176" y="2395728"/>
            <a:ext cx="868680" cy="1426464"/>
          </a:xfrm>
          <a:prstGeom prst="roundRect">
            <a:avLst>
              <a:gd name="adj" fmla="val 12632"/>
            </a:avLst>
          </a:prstGeom>
          <a:solidFill>
            <a:srgbClr val="FFF3E0"/>
          </a:solidFill>
          <a:ln w="12700">
            <a:solidFill>
              <a:srgbClr val="F1D4A3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10817352" y="2596896"/>
            <a:ext cx="338328" cy="338328"/>
          </a:xfrm>
          <a:prstGeom prst="ellipse">
            <a:avLst/>
          </a:prstGeom>
          <a:solidFill>
            <a:srgbClr val="FFB454"/>
          </a:solidFill>
          <a:ln w="12700">
            <a:solidFill>
              <a:srgbClr val="FFB454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0817352" y="2706624"/>
            <a:ext cx="338328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42" name="Text 40"/>
          <p:cNvSpPr/>
          <p:nvPr/>
        </p:nvSpPr>
        <p:spPr>
          <a:xfrm>
            <a:off x="10625328" y="3081528"/>
            <a:ext cx="72237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850" dirty="0"/>
          </a:p>
        </p:txBody>
      </p:sp>
      <p:sp>
        <p:nvSpPr>
          <p:cNvPr id="43" name="Shape 41"/>
          <p:cNvSpPr/>
          <p:nvPr/>
        </p:nvSpPr>
        <p:spPr>
          <a:xfrm>
            <a:off x="6492240" y="4160520"/>
            <a:ext cx="4983480" cy="1097280"/>
          </a:xfrm>
          <a:prstGeom prst="roundRect">
            <a:avLst>
              <a:gd name="adj" fmla="val 10000"/>
            </a:avLst>
          </a:prstGeom>
          <a:solidFill>
            <a:srgbClr val="E7F8F8"/>
          </a:solidFill>
          <a:ln w="12700">
            <a:solidFill>
              <a:srgbClr val="C5EBEA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729984" y="4398264"/>
            <a:ext cx="1143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F855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BOTTOM LINE</a:t>
            </a:r>
            <a:endParaRPr lang="en-US" sz="870" dirty="0"/>
          </a:p>
        </p:txBody>
      </p:sp>
      <p:sp>
        <p:nvSpPr>
          <p:cNvPr id="45" name="Text 43"/>
          <p:cNvSpPr/>
          <p:nvPr/>
        </p:nvSpPr>
        <p:spPr>
          <a:xfrm>
            <a:off x="7845552" y="4288536"/>
            <a:ext cx="336499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buNone/>
            </a:pPr>
            <a:r>
              <a:rPr lang="en-US" sz="118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Sprint 1 output creates a structured base for future anomaly detection, risk scoring and machine-learning-based spam/scam monitoring.</a:t>
            </a:r>
            <a:endParaRPr lang="en-US" sz="1180" dirty="0"/>
          </a:p>
        </p:txBody>
      </p:sp>
      <p:sp>
        <p:nvSpPr>
          <p:cNvPr id="46" name="Text 44"/>
          <p:cNvSpPr/>
          <p:nvPr/>
        </p:nvSpPr>
        <p:spPr>
          <a:xfrm>
            <a:off x="6492240" y="55412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0B13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THANK YOU</a:t>
            </a:r>
            <a:endParaRPr lang="en-US" sz="2500" dirty="0"/>
          </a:p>
        </p:txBody>
      </p:sp>
      <p:sp>
        <p:nvSpPr>
          <p:cNvPr id="47" name="Text 45"/>
          <p:cNvSpPr/>
          <p:nvPr/>
        </p:nvSpPr>
        <p:spPr>
          <a:xfrm>
            <a:off x="6492240" y="5925312"/>
            <a:ext cx="4663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4865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ScamPulse AI • Telecom Scam &amp; Spam Pattern Intelligence</a:t>
            </a:r>
            <a:endParaRPr lang="en-US" sz="950" dirty="0"/>
          </a:p>
        </p:txBody>
      </p:sp>
      <p:sp>
        <p:nvSpPr>
          <p:cNvPr id="48" name="Text 46"/>
          <p:cNvSpPr/>
          <p:nvPr/>
        </p:nvSpPr>
        <p:spPr>
          <a:xfrm>
            <a:off x="502920" y="6272784"/>
            <a:ext cx="9601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50" i="1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project-provided notebook and dataset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868912" y="6574536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00">
                <a:solidFill>
                  <a:srgbClr val="D9E2EC"/>
                </a:solidFill>
                <a:latin typeface="Aptos"/>
                <a:ea typeface="Aptos"/>
                <a:cs typeface="Aptos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AIML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ScamPulse AI — Telecom Scam &amp; Spam Pattern Intelligence</dc:title>
  <dc:subject>Python Data Analysis Project — ScamPulse AI</dc:subject>
  <dc:creator>Velavan P D</dc:creator>
  <cp:lastModifiedBy>Velavan P D</cp:lastModifiedBy>
  <cp:revision>1</cp:revision>
  <dcterms:created xsi:type="dcterms:W3CDTF">2026-10-07T05:29:31Z</dcterms:created>
  <dcterms:modified xsi:type="dcterms:W3CDTF">2026-10-07T05:29:31Z</dcterms:modified>
</cp:coreProperties>
</file>